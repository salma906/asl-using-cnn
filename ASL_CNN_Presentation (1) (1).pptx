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48" y="30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7484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389120"/>
            <a:ext cx="4023360" cy="402336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S  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ASL Letter Recognition Using a CNN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686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Classifying static hand-sign images into English letters A–Z with a convolutional neural network built from scratch.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297680"/>
            <a:ext cx="1828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Salma sameh, Saif Amr Mohamed, Youssef </a:t>
            </a:r>
            <a:r>
              <a:rPr lang="en-US" sz="14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 dine, Yassin Ahmed </a:t>
            </a:r>
            <a:r>
              <a:rPr lang="en-US" sz="14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Shendy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Omar Mahmoud Waked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892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[Artificial intelligence]  •  [9/9/2026]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built, and why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343400"/>
          </a:xfrm>
          <a:prstGeom prst="roundRect">
            <a:avLst>
              <a:gd name="adj" fmla="val 2105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1965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709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 Sign Language is a primary means of communication for many Deaf and hard-of-hearing people, but most hearing people cannot read it. Automatic recognition of ASL hand signs is a step toward closing that communication gap and toward accessibility tools that translate signs into text in real time.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3640" y="1965960"/>
            <a:ext cx="5394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9659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one static ASL hand-sign image, predict the corresponding English letter (A–Z).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263640" y="31546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73368" y="3557016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373368" y="35570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84848" y="35204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image classification pipeline from a raw Kaggle dataset to a trained model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73368" y="4123944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373368" y="41239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84848" y="40873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train a CNN from scratch — no pretrained backbone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73368" y="4690872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373368" y="469087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84848" y="465429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 the task to the 26 letter classes (excluding space / delete / nothing)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73368" y="5257800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373368" y="52578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84848" y="522122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performance per-letter and identify where confusion occurs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73368" y="5824728"/>
            <a:ext cx="237744" cy="23774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373368" y="58247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84848" y="57881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a simple “upload an image, get a letter” demo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Letter Recognition — CNN Project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images to a predicted letter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9516" y="16002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2396" y="16733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→ 26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82396" y="21214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used (letters only; space / delete / nothing removed)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2836" y="16002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85716" y="16733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Kaggle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85716" y="21214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“ASL Alphabet” dataset (grassknoted/asl-alphabet)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06156" y="16002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89036" y="16733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/ 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89036" y="212140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/ validation split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496" y="361188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" y="361188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048256" y="4137660"/>
            <a:ext cx="411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459736" y="361188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59736" y="361188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968496" y="4137660"/>
            <a:ext cx="411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79976" y="361188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9976" y="361188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888736" y="4137660"/>
            <a:ext cx="411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300216" y="361188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 w="15875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0216" y="361188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808976" y="4137660"/>
            <a:ext cx="411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220456" y="361188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0456" y="361188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729216" y="4137660"/>
            <a:ext cx="4114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140696" y="3611880"/>
            <a:ext cx="150876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5875">
            <a:solidFill>
              <a:srgbClr val="1C729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40696" y="3611880"/>
            <a:ext cx="1508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flip is used during augmentation — mirroring a hand sign can change its meaning, so it would create ambiguous labels.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Letter Recognition — CNN Project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Details — Data Preparation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images ready for the network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 Settings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971800" y="2331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× 128 px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2734056"/>
            <a:ext cx="4846320" cy="457200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7889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971800" y="27889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split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71800" y="3246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648456"/>
            <a:ext cx="4846320" cy="457200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mode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971800" y="37033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(one-hot, 26 classes)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1605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scaling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971800" y="41605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Rescaled 0–255 → 0–1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800" y="4562856"/>
            <a:ext cx="4846320" cy="457200"/>
          </a:xfrm>
          <a:prstGeom prst="rect">
            <a:avLst/>
          </a:prstGeom>
          <a:solidFill>
            <a:srgbClr val="F5F9F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4617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seed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2971800" y="46177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(reproducible split)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98932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Augmentation (training only)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08076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2194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03720" y="21945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903720" y="2514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±8% of a full turn, to tolerate slight hand tilt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80760" y="315468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60807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⤢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03720" y="31546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Zoom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03720" y="347472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10% in/out, to tolerate distance from camera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80760" y="41148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1" name="Text 29"/>
          <p:cNvSpPr/>
          <p:nvPr/>
        </p:nvSpPr>
        <p:spPr>
          <a:xfrm>
            <a:off x="60807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903720" y="4114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Contrast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903720" y="443484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10%, to tolerate lighting differences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989320" y="5074920"/>
            <a:ext cx="566928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35" name="Text 33"/>
          <p:cNvSpPr/>
          <p:nvPr/>
        </p:nvSpPr>
        <p:spPr>
          <a:xfrm>
            <a:off x="6172200" y="507492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not used: horizontal flip — it can turn one letter's hand shape into a different, ambiguous label.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Letter Recognition — CNN Project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Details — Model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convolutional neural network built from scratch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423160" y="1508760"/>
            <a:ext cx="2377440" cy="333756"/>
          </a:xfrm>
          <a:prstGeom prst="roundRect">
            <a:avLst>
              <a:gd name="adj" fmla="val 16438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23160" y="1508760"/>
            <a:ext cx="23774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—  128×128×3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11880" y="1842516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65960" y="1883664"/>
            <a:ext cx="3291840" cy="333756"/>
          </a:xfrm>
          <a:prstGeom prst="roundRect">
            <a:avLst>
              <a:gd name="adj" fmla="val 16438"/>
            </a:avLst>
          </a:prstGeom>
          <a:solidFill>
            <a:srgbClr val="CFE8F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883664"/>
            <a:ext cx="32918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 + ReLU  —  3×3 kernel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11880" y="2217420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71700" y="2258568"/>
            <a:ext cx="2880360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5B6B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71700" y="2258568"/>
            <a:ext cx="2880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2×2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11880" y="2592324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633472"/>
            <a:ext cx="3566160" cy="333756"/>
          </a:xfrm>
          <a:prstGeom prst="roundRect">
            <a:avLst>
              <a:gd name="adj" fmla="val 16438"/>
            </a:avLst>
          </a:prstGeom>
          <a:solidFill>
            <a:srgbClr val="CFE8F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2633472"/>
            <a:ext cx="35661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 + ReLU  —  3×3 kernel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967228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71700" y="3008376"/>
            <a:ext cx="2880360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5B6B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71700" y="3008376"/>
            <a:ext cx="2880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2×2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11880" y="3342132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3383280"/>
            <a:ext cx="3840480" cy="333756"/>
          </a:xfrm>
          <a:prstGeom prst="roundRect">
            <a:avLst>
              <a:gd name="adj" fmla="val 16438"/>
            </a:avLst>
          </a:prstGeom>
          <a:solidFill>
            <a:srgbClr val="CFE8F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3383280"/>
            <a:ext cx="38404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128 + ReLU  —  3×3 kernel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11880" y="3717036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71700" y="3758184"/>
            <a:ext cx="2880360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5B6B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71700" y="3758184"/>
            <a:ext cx="28803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2×2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11880" y="4091940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4133088"/>
            <a:ext cx="2103120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60320" y="4133088"/>
            <a:ext cx="210312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611880" y="4466844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65960" y="4507992"/>
            <a:ext cx="3291840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65960" y="4507992"/>
            <a:ext cx="329184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 + ReLU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11880" y="4841748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0" y="4882896"/>
            <a:ext cx="2651760" cy="333756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4882896"/>
            <a:ext cx="265176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0.40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611880" y="5216652"/>
            <a:ext cx="0" cy="41148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91640" y="5257800"/>
            <a:ext cx="3840480" cy="333756"/>
          </a:xfrm>
          <a:prstGeom prst="roundRect">
            <a:avLst>
              <a:gd name="adj" fmla="val 16438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691640" y="5257800"/>
            <a:ext cx="3840480" cy="3337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26 + Softmax  —  output layer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90372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Configuration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995160" y="1965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732520" y="1965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Adam, learning rate 0.001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903720" y="2368296"/>
            <a:ext cx="47548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699516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732520" y="2423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6995160" y="28803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73252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903720" y="3282696"/>
            <a:ext cx="47548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995160" y="3337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epochs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732520" y="3337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6995160" y="3794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8732520" y="3794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val_loss, patience 3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903720" y="4197096"/>
            <a:ext cx="475488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6995160" y="4251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8732520" y="4251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on plateau (×0.5, patience 2)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903720" y="4892040"/>
            <a:ext cx="4754880" cy="1051560"/>
          </a:xfrm>
          <a:prstGeom prst="roundRect">
            <a:avLst>
              <a:gd name="adj" fmla="val 6957"/>
            </a:avLst>
          </a:prstGeom>
          <a:solidFill>
            <a:srgbClr val="21295C"/>
          </a:solidFill>
          <a:ln/>
        </p:spPr>
      </p:sp>
      <p:sp>
        <p:nvSpPr>
          <p:cNvPr id="53" name="Text 51"/>
          <p:cNvSpPr/>
          <p:nvPr/>
        </p:nvSpPr>
        <p:spPr>
          <a:xfrm>
            <a:off x="7086600" y="49834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design?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7086600" y="5257800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conv blocks of increasing depth (32→64→128) let the network build up from edges to finger positions to full hand shapes before classifying.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Letter Recognition — CNN Project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CNN?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model to an image classification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297680"/>
          </a:xfrm>
          <a:prstGeom prst="roundRect">
            <a:avLst>
              <a:gd name="adj" fmla="val 2128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91640" y="201168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not simpler models?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Fully-connected (dense) network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09067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Flattening a 128×128×3 image gives 49,152 inputs — the first dense layer alone would need millions of weights, and it ignores where pixels sit relative to each other.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CV (e.g. HOG + SVM)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507992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hand-engineered features and struggles to generalize across lighting, skin tones, and hand positions in the dataset.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89320" y="16459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CNN fits this task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03620" y="21717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103620" y="21717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21671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pattern detection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0" y="24871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filters pick up on edges, finger contours, and knuckle lines wherever they appear in the image.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03620" y="31318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103620" y="31318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12724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sharing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858000" y="344728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small filter slides across the whole image, so the network needs far fewer weights than a dense layer on raw pixels.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03620" y="40919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6103620" y="40919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408736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translation tolerance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858000" y="44074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Max-pooling lets the model recognize a hand shape even if the hand isn't perfectly centered in frame.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103620" y="50520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6103620" y="50520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504748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features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58000" y="536752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conv blocks (32→64→128) build from simple edges up to complete finger and hand configurations.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Letter Recognition — CNN Project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does the model classify letters?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9516" y="16002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882396" y="16733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99.78%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82396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02836" y="16002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85716" y="16733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0.0092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85716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06156" y="1600200"/>
            <a:ext cx="3383280" cy="137160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289036" y="16733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11/15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289036" y="239572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epoch (early stopping)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&amp; Loss Curves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840480"/>
            <a:ext cx="4892040" cy="1965960"/>
          </a:xfrm>
          <a:prstGeom prst="roundRect">
            <a:avLst>
              <a:gd name="adj" fmla="val 2791"/>
            </a:avLst>
          </a:prstGeom>
          <a:solidFill>
            <a:srgbClr val="F5F9FB"/>
          </a:solidFill>
          <a:ln w="12700">
            <a:solidFill>
              <a:srgbClr val="CFE8F3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960120" y="3840480"/>
            <a:ext cx="4526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training vs. validation accuracy/loss plot]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3246120"/>
            <a:ext cx="5349240" cy="28803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3832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92240" y="3840480"/>
            <a:ext cx="4892040" cy="1965960"/>
          </a:xfrm>
          <a:prstGeom prst="roundRect">
            <a:avLst>
              <a:gd name="adj" fmla="val 2791"/>
            </a:avLst>
          </a:prstGeom>
          <a:solidFill>
            <a:srgbClr val="F5F9FB"/>
          </a:solidFill>
          <a:ln w="12700">
            <a:solidFill>
              <a:srgbClr val="CFE8F3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6675120" y="3840480"/>
            <a:ext cx="45262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confusion matrix heatmap — note which letters are most confused]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Letter Recognition — CNN Project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DC9B1B6-493B-5403-1F8B-D209E2BF9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27514"/>
            <a:ext cx="2799080" cy="196596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4D0B5C-FFCE-045E-A4C5-10F58CF46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0600" y="3694176"/>
            <a:ext cx="2184400" cy="209929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537B4D8-2A77-54CF-6900-D2417424B5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560" y="3840480"/>
            <a:ext cx="487172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Try It Yourself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image in, letter out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7373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image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single-hand ASL sign photo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7432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preprocesses it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1089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Resized to 128×128 and passed to the CNN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79476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0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prediction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letter + confidence percentage shown instantly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029200" cy="1234440"/>
          </a:xfrm>
          <a:prstGeom prst="roundRect">
            <a:avLst>
              <a:gd name="adj" fmla="val 7407"/>
            </a:avLst>
          </a:prstGeom>
          <a:solidFill>
            <a:srgbClr val="21295C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0017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5285232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photo of a “O" hand sign  →  Output: Predicted Letter: O (confidence 71.27 %)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75120" y="1737360"/>
            <a:ext cx="493776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FE8F3"/>
            </a:solidFill>
            <a:prstDash val="solid"/>
          </a:ln>
          <a:effectLst>
            <a:outerShdw blurRad="127000" dist="38100" dir="5400000" algn="bl" rotWithShape="0">
              <a:srgbClr val="1C2B36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2057400"/>
            <a:ext cx="4297680" cy="3017520"/>
          </a:xfrm>
          <a:prstGeom prst="roundRect">
            <a:avLst>
              <a:gd name="adj" fmla="val 2424"/>
            </a:avLst>
          </a:prstGeom>
          <a:solidFill>
            <a:srgbClr val="F5F9FB"/>
          </a:solidFill>
          <a:ln w="12700">
            <a:solidFill>
              <a:srgbClr val="CFE8F3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7178040" y="2057400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screenshot of uploaded ASL image]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51663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Letter: O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995160" y="559612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71.27%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Letter Recognition — CNN Project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DCA9E8B7-8E9A-F0B6-C8D2-90EB060894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2039112"/>
            <a:ext cx="4297680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389120" cy="438912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58952" y="187452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874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82880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from-scratch CNN that classifies static ASL hand signs into 26 letters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58952" y="253288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32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" y="248716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pipeline: raw Kaggle images → preprocessing → training → evaluation → single-image demo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8952" y="3191256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191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145536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99.78 % validation accuracy (see Evaluation)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952" y="3849624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849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143000" y="3803904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limitation: J and Z involve motion and can't be fully captured by a single static image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371600"/>
            <a:ext cx="0" cy="3840480"/>
          </a:xfrm>
          <a:prstGeom prst="line">
            <a:avLst/>
          </a:prstGeom>
          <a:noFill/>
          <a:ln w="12700">
            <a:solidFill>
              <a:srgbClr val="1C7293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FE8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519672" y="1874520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519672" y="18745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03720" y="18288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video input to capture motion signs (J, Z) and continuous fingerspelling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19672" y="2532888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519672" y="25328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3720" y="2487168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saved .keras model behind a web app or mobile camera app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19672" y="3191256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6519672" y="31912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903720" y="3145536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Broaden the dataset with more hands, skin tones, backgrounds, and lighting conditions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519672" y="3849624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0" name="Text 28"/>
          <p:cNvSpPr/>
          <p:nvPr/>
        </p:nvSpPr>
        <p:spPr>
          <a:xfrm>
            <a:off x="6519672" y="3849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03720" y="3803904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transfer learning (e.g. MobileNet) to compare against the from-scratch CNN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19672" y="4507992"/>
            <a:ext cx="219456" cy="21945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3" name="Text 31"/>
          <p:cNvSpPr/>
          <p:nvPr/>
        </p:nvSpPr>
        <p:spPr>
          <a:xfrm>
            <a:off x="6519672" y="45079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903720" y="4462272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letters to common words and short phrases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" y="5989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B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1057</Words>
  <Application>Microsoft Office PowerPoint</Application>
  <PresentationFormat>Widescreen</PresentationFormat>
  <Paragraphs>192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salma sameh</cp:lastModifiedBy>
  <cp:revision>4</cp:revision>
  <dcterms:created xsi:type="dcterms:W3CDTF">2026-09-09T18:28:11Z</dcterms:created>
  <dcterms:modified xsi:type="dcterms:W3CDTF">2026-09-10T13:48:21Z</dcterms:modified>
</cp:coreProperties>
</file>